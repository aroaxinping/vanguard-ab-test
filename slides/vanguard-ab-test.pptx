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4njSAKcYfgiordJOcb2rRAZec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Vanguard redesigned its online process and ran an A/B test on 50,000 clients. Our job is to say whether it should replace the current one, and why.</a:t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Frame the recommendation in Vanguard's own terms before showing any number.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table of contents. Each question depends on the previous being settled.</a:t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point is not that the data was dirty. It is that journeys have to be reconstructed under rules stated in advance.</a:t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Never trust experimental metadata blindly. We checked before comparing anything.</a:t>
            </a:r>
            <a:endParaRPr/>
          </a:p>
        </p:txBody>
      </p:sp>
      <p:sp>
        <p:nvSpPr>
          <p:cNvPr id="82" name="Google Shape;8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team computes the same KPIs. What differs is the implementation. This is the choice that mattered most.</a:t>
            </a:r>
            <a:endParaRPr/>
          </a:p>
        </p:txBody>
      </p:sp>
      <p:sp>
        <p:nvSpPr>
          <p:cNvPr id="100" name="Google Shape;10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87ee99666_3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87ee99666_3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f87ee99666_3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87ee99666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87ee99666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87ee99666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87ee99666_3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87ee99666_3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f87ee99666_3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Roughly three clients in every hundred who would have abandoned now finish on their own, and everyone who finishes saves half a minute.</a:t>
            </a:r>
            <a:br>
              <a:rPr lang="en-US"/>
            </a:br>
            <a:br>
              <a:rPr lang="en-US"/>
            </a:br>
            <a:r>
              <a:rPr lang="en-US"/>
              <a:t>End on the question and pause. Everything after this slide answers it — do not rush past it.</a:t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most actionable slide for the business. The opening step is where the value is, in this redesign and in the next one. Be honest about step 1 to step 2 being slightly worse — it is within noise, but volunteering it builds credibility.</a:t>
            </a:r>
            <a:br>
              <a:rPr lang="en-US"/>
            </a:br>
            <a:br>
              <a:rPr lang="en-US"/>
            </a:br>
            <a:r>
              <a:rPr lang="en-US"/>
              <a:t>This slide is about CONVERSION. If asked where the 34 seconds come from, the answer is different: 7 seconds off the opening step and 24 off the final confirmation. step_1 to step_2 is the only transition that is worse on both conversion and time. See notebook 4.0.</a:t>
            </a:r>
            <a:endParaRPr/>
          </a:p>
        </p:txBody>
      </p:sp>
      <p:sp>
        <p:nvSpPr>
          <p:cNvPr id="154" name="Google Shape;15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slide where the methodology pays off. Do not rush it.</a:t>
            </a:r>
            <a:endParaRPr/>
          </a:p>
        </p:txBody>
      </p:sp>
      <p:sp>
        <p:nvSpPr>
          <p:cNvPr id="165" name="Google Shape;1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deliberately do not claim the redesign favours older clients — the interaction is not significant. The real finding is the gap the redesign does not close.</a:t>
            </a:r>
            <a:endParaRPr/>
          </a:p>
        </p:txBody>
      </p:sp>
      <p:sp>
        <p:nvSpPr>
          <p:cNvPr id="177" name="Google Shape;17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 the limits before anyone asks. It is what makes the recommendation credible.</a:t>
            </a:r>
            <a:endParaRPr/>
          </a:p>
        </p:txBody>
      </p:sp>
      <p:sp>
        <p:nvSpPr>
          <p:cNvPr id="189" name="Google Shape;18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last thing they hear should be the finding, not the methodology. The nine points are the 65+ gap.</a:t>
            </a:r>
            <a:endParaRPr/>
          </a:p>
        </p:txBody>
      </p:sp>
      <p:sp>
        <p:nvSpPr>
          <p:cNvPr id="204" name="Google Shape;20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2" type="sldNum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9828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9828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9828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9828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9828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9828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9828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9828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9828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B9828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B9828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B9828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B9828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B9828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B9828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B9828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B9828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B9828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151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822960" y="201168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9C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C9CB"/>
                </a:solidFill>
                <a:latin typeface="Calibri"/>
                <a:ea typeface="Calibri"/>
                <a:cs typeface="Calibri"/>
                <a:sym typeface="Calibri"/>
              </a:rPr>
              <a:t>VANGUARD  ·  CUSTOMER EXPERIENCE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2423160"/>
            <a:ext cx="8686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0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Should the redesigned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0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process go live?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434340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9C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C9CB"/>
                </a:solidFill>
                <a:latin typeface="Calibri"/>
                <a:ea typeface="Calibri"/>
                <a:cs typeface="Calibri"/>
                <a:sym typeface="Calibri"/>
              </a:rPr>
              <a:t>Evaluation of the A/B test run between 15 March and 20 June 2017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5852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A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9A9E"/>
                </a:solidFill>
                <a:latin typeface="Calibri"/>
                <a:ea typeface="Calibri"/>
                <a:cs typeface="Calibri"/>
                <a:sym typeface="Calibri"/>
              </a:rPr>
              <a:t>Aroa  ·  Angélica - Vanguard Customer Experience </a:t>
            </a:r>
            <a:r>
              <a:rPr lang="en-US" sz="1200">
                <a:solidFill>
                  <a:srgbClr val="C89A9E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r>
              <a:rPr b="0" i="0" lang="en-US" sz="1200" u="none" cap="none" strike="noStrike">
                <a:solidFill>
                  <a:srgbClr val="C89A9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822960" y="475488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6151D"/>
                </a:solidFill>
                <a:latin typeface="Calibri"/>
                <a:ea typeface="Calibri"/>
                <a:cs typeface="Calibri"/>
                <a:sym typeface="Calibri"/>
              </a:rPr>
              <a:t>THE BUSINESS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822960" y="768096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3200"/>
              <a:buFont typeface="Cambria"/>
              <a:buNone/>
            </a:pPr>
            <a:r>
              <a:rPr b="0" i="0" lang="en-US" sz="3200" u="none" cap="none" strike="noStrike">
                <a:solidFill>
                  <a:srgbClr val="1A1416"/>
                </a:solidFill>
                <a:latin typeface="Cambria"/>
                <a:ea typeface="Cambria"/>
                <a:cs typeface="Cambria"/>
                <a:sym typeface="Cambria"/>
              </a:rPr>
              <a:t>Why this is not just a conversion question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822960" y="2109655"/>
            <a:ext cx="5943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500"/>
              <a:buFont typeface="Calibri"/>
              <a:buNone/>
            </a:pPr>
            <a:r>
              <a:rPr b="1" lang="en-US" sz="1900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Vanguard is owned by its own funds, which are owned by their investors</a:t>
            </a:r>
            <a:r>
              <a:rPr b="1" lang="en-US" sz="1900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 —</a:t>
            </a:r>
            <a:r>
              <a:rPr lang="en-US" sz="1900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 no outside </a:t>
            </a:r>
            <a:r>
              <a:rPr lang="en-US" sz="1900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shareholders. The company operates at cost:</a:t>
            </a:r>
            <a:r>
              <a:rPr i="0" lang="en-US" sz="19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 surpluses</a:t>
            </a:r>
            <a:r>
              <a:rPr b="0" i="0" lang="en-US" sz="19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 return to clients as lower fees.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22960" y="3252655"/>
            <a:ext cx="5943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500"/>
              <a:buFont typeface="Calibri"/>
              <a:buNone/>
            </a:pPr>
            <a:r>
              <a:rPr b="0" i="0" lang="en-US" sz="19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So operating cost is not a saving for the company — it is a return for the client. </a:t>
            </a:r>
            <a:r>
              <a:rPr lang="en-US" sz="1900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Someone who cannot finish online and has to call is paying that cost themselves.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22960" y="605332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B7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Vanguard business model and company profile, 2025.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>
            <p:ph idx="4294967295" type="sldNum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57B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>
            <a:off x="822960" y="475488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6151D"/>
                </a:solidFill>
                <a:latin typeface="Calibri"/>
                <a:ea typeface="Calibri"/>
                <a:cs typeface="Calibri"/>
                <a:sym typeface="Calibri"/>
              </a:rPr>
              <a:t>HOW WE GOT THERE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822960" y="768096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3200"/>
              <a:buFont typeface="Cambria"/>
              <a:buNone/>
            </a:pPr>
            <a:r>
              <a:rPr b="0" i="0" lang="en-US" sz="3900" u="none" cap="none" strike="noStrike">
                <a:solidFill>
                  <a:srgbClr val="1A1416"/>
                </a:solidFill>
                <a:latin typeface="Cambria"/>
                <a:ea typeface="Cambria"/>
                <a:cs typeface="Cambria"/>
                <a:sym typeface="Cambria"/>
              </a:rPr>
              <a:t>Five questions, in order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822960" y="1837944"/>
            <a:ext cx="420624" cy="420624"/>
          </a:xfrm>
          <a:prstGeom prst="ellipse">
            <a:avLst/>
          </a:prstGeom>
          <a:solidFill>
            <a:srgbClr val="96151D"/>
          </a:solidFill>
          <a:ln cap="flat" cmpd="sng" w="12700">
            <a:solidFill>
              <a:srgbClr val="9615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1" name="Google Shape;41;p3"/>
          <p:cNvSpPr/>
          <p:nvPr/>
        </p:nvSpPr>
        <p:spPr>
          <a:xfrm>
            <a:off x="822960" y="183794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481328" y="1783080"/>
            <a:ext cx="6766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1900"/>
              <a:buFont typeface="Cambria"/>
              <a:buNone/>
            </a:pPr>
            <a:r>
              <a:rPr b="0" i="0" lang="en-US" sz="2400" u="none" cap="none" strike="noStrike">
                <a:solidFill>
                  <a:srgbClr val="1A1416"/>
                </a:solidFill>
                <a:latin typeface="Cambria"/>
                <a:ea typeface="Cambria"/>
                <a:cs typeface="Cambria"/>
                <a:sym typeface="Cambria"/>
              </a:rPr>
              <a:t>Can we trust our data?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481328" y="210312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B7E"/>
              </a:buClr>
              <a:buSzPts val="1250"/>
              <a:buFont typeface="Calibri"/>
              <a:buNone/>
            </a:pPr>
            <a:r>
              <a:rPr b="0" i="0" lang="en-US" sz="1750" u="none" cap="none" strike="noStrike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Quality, identifiers, what had to be decided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822960" y="2679192"/>
            <a:ext cx="420624" cy="420624"/>
          </a:xfrm>
          <a:prstGeom prst="ellipse">
            <a:avLst/>
          </a:prstGeom>
          <a:solidFill>
            <a:srgbClr val="96151D"/>
          </a:solidFill>
          <a:ln cap="flat" cmpd="sng" w="12700">
            <a:solidFill>
              <a:srgbClr val="9615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" name="Google Shape;45;p3"/>
          <p:cNvSpPr/>
          <p:nvPr/>
        </p:nvSpPr>
        <p:spPr>
          <a:xfrm>
            <a:off x="822960" y="267919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481328" y="2624328"/>
            <a:ext cx="6766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1900"/>
              <a:buFont typeface="Cambria"/>
              <a:buNone/>
            </a:pPr>
            <a:r>
              <a:rPr b="0" i="0" lang="en-US" sz="2400" u="none" cap="none" strike="noStrike">
                <a:solidFill>
                  <a:srgbClr val="1A1416"/>
                </a:solidFill>
                <a:latin typeface="Cambria"/>
                <a:ea typeface="Cambria"/>
                <a:cs typeface="Cambria"/>
                <a:sym typeface="Cambria"/>
              </a:rPr>
              <a:t>Can we trust our experiment?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1481328" y="2944368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B7E"/>
              </a:buClr>
              <a:buSzPts val="1250"/>
              <a:buFont typeface="Calibri"/>
              <a:buNone/>
            </a:pPr>
            <a:r>
              <a:rPr b="0" i="0" lang="en-US" sz="1750" u="none" cap="none" strike="noStrike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Whether Control and Test are comparable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822960" y="3520440"/>
            <a:ext cx="420624" cy="420624"/>
          </a:xfrm>
          <a:prstGeom prst="ellipse">
            <a:avLst/>
          </a:prstGeom>
          <a:solidFill>
            <a:srgbClr val="96151D"/>
          </a:solidFill>
          <a:ln cap="flat" cmpd="sng" w="12700">
            <a:solidFill>
              <a:srgbClr val="9615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9" name="Google Shape;49;p3"/>
          <p:cNvSpPr/>
          <p:nvPr/>
        </p:nvSpPr>
        <p:spPr>
          <a:xfrm>
            <a:off x="822960" y="35204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1481328" y="3465576"/>
            <a:ext cx="6766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1900"/>
              <a:buFont typeface="Cambria"/>
              <a:buNone/>
            </a:pPr>
            <a:r>
              <a:rPr b="0" i="0" lang="en-US" sz="2400" u="none" cap="none" strike="noStrike">
                <a:solidFill>
                  <a:srgbClr val="1A1416"/>
                </a:solidFill>
                <a:latin typeface="Cambria"/>
                <a:ea typeface="Cambria"/>
                <a:cs typeface="Cambria"/>
                <a:sym typeface="Cambria"/>
              </a:rPr>
              <a:t>How should behaviour be measured?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481328" y="3785616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B7E"/>
              </a:buClr>
              <a:buSzPts val="1250"/>
              <a:buFont typeface="Calibri"/>
              <a:buNone/>
            </a:pPr>
            <a:r>
              <a:rPr b="0" i="0" lang="en-US" sz="1750" u="none" cap="none" strike="noStrike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Reconstructing journeys, defining the KPIs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822960" y="4361688"/>
            <a:ext cx="420624" cy="420624"/>
          </a:xfrm>
          <a:prstGeom prst="ellipse">
            <a:avLst/>
          </a:prstGeom>
          <a:solidFill>
            <a:srgbClr val="96151D"/>
          </a:solidFill>
          <a:ln cap="flat" cmpd="sng" w="12700">
            <a:solidFill>
              <a:srgbClr val="9615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3" name="Google Shape;53;p3"/>
          <p:cNvSpPr/>
          <p:nvPr/>
        </p:nvSpPr>
        <p:spPr>
          <a:xfrm>
            <a:off x="822960" y="43616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481328" y="4306824"/>
            <a:ext cx="6766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1900"/>
              <a:buFont typeface="Cambria"/>
              <a:buNone/>
            </a:pPr>
            <a:r>
              <a:rPr b="0" i="0" lang="en-US" sz="2400" u="none" cap="none" strike="noStrike">
                <a:solidFill>
                  <a:srgbClr val="1A1416"/>
                </a:solidFill>
                <a:latin typeface="Cambria"/>
                <a:ea typeface="Cambria"/>
                <a:cs typeface="Cambria"/>
                <a:sym typeface="Cambria"/>
              </a:rPr>
              <a:t>What evidence supports our conclusions?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481328" y="4626864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B7E"/>
              </a:buClr>
              <a:buSzPts val="1250"/>
              <a:buFont typeface="Calibri"/>
              <a:buNone/>
            </a:pPr>
            <a:r>
              <a:rPr b="0" i="0" lang="en-US" sz="1750" u="none" cap="none" strike="noStrike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Statistical and practical significance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822960" y="5202936"/>
            <a:ext cx="420624" cy="420624"/>
          </a:xfrm>
          <a:prstGeom prst="ellipse">
            <a:avLst/>
          </a:prstGeom>
          <a:solidFill>
            <a:srgbClr val="96151D"/>
          </a:solidFill>
          <a:ln cap="flat" cmpd="sng" w="12700">
            <a:solidFill>
              <a:srgbClr val="9615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7" name="Google Shape;57;p3"/>
          <p:cNvSpPr/>
          <p:nvPr/>
        </p:nvSpPr>
        <p:spPr>
          <a:xfrm>
            <a:off x="822960" y="52029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481328" y="5148072"/>
            <a:ext cx="6766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1900"/>
              <a:buFont typeface="Cambria"/>
              <a:buNone/>
            </a:pPr>
            <a:r>
              <a:rPr b="0" i="0" lang="en-US" sz="2400" u="none" cap="none" strike="noStrike">
                <a:solidFill>
                  <a:srgbClr val="1A1416"/>
                </a:solidFill>
                <a:latin typeface="Cambria"/>
                <a:ea typeface="Cambria"/>
                <a:cs typeface="Cambria"/>
                <a:sym typeface="Cambria"/>
              </a:rPr>
              <a:t>What should Vanguard do?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481328" y="546811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B7E"/>
              </a:buClr>
              <a:buSzPts val="1250"/>
              <a:buFont typeface="Calibri"/>
              <a:buNone/>
            </a:pPr>
            <a:r>
              <a:rPr b="0" i="0" lang="en-US" sz="1750" u="none" cap="none" strike="noStrike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The recommendation, and what it rests on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>
            <p:ph idx="4294967295" type="sldNum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57B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3"/>
          <p:cNvPicPr preferRelativeResize="0"/>
          <p:nvPr/>
        </p:nvPicPr>
        <p:blipFill rotWithShape="1">
          <a:blip r:embed="rId3">
            <a:alphaModFix/>
          </a:blip>
          <a:srcRect b="0" l="0" r="19407" t="0"/>
          <a:stretch/>
        </p:blipFill>
        <p:spPr>
          <a:xfrm>
            <a:off x="7662750" y="828988"/>
            <a:ext cx="4529253" cy="580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/>
          <p:nvPr/>
        </p:nvSpPr>
        <p:spPr>
          <a:xfrm>
            <a:off x="822960" y="475488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6151D"/>
                </a:solidFill>
                <a:latin typeface="Calibri"/>
                <a:ea typeface="Calibri"/>
                <a:cs typeface="Calibri"/>
                <a:sym typeface="Calibri"/>
              </a:rPr>
              <a:t>QUESTION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822960" y="768096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3200"/>
              <a:buFont typeface="Cambria"/>
              <a:buNone/>
            </a:pPr>
            <a:r>
              <a:rPr b="0" i="0" lang="en-US" sz="3200" u="none" cap="none" strike="noStrike">
                <a:solidFill>
                  <a:srgbClr val="1A1416"/>
                </a:solidFill>
                <a:latin typeface="Cambria"/>
                <a:ea typeface="Cambria"/>
                <a:cs typeface="Cambria"/>
                <a:sym typeface="Cambria"/>
              </a:rPr>
              <a:t>The log records events, not journeys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822960" y="1737360"/>
            <a:ext cx="3017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3800"/>
              <a:buFont typeface="Cambria"/>
              <a:buNone/>
            </a:pPr>
            <a:r>
              <a:rPr b="0" i="0" lang="en-US" sz="4000" u="none" cap="none" strike="noStrike">
                <a:solidFill>
                  <a:srgbClr val="96151D"/>
                </a:solidFill>
                <a:latin typeface="Cambria"/>
                <a:ea typeface="Cambria"/>
                <a:cs typeface="Cambria"/>
                <a:sym typeface="Cambria"/>
              </a:rPr>
              <a:t>755,405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822960" y="2487168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250"/>
              <a:buFont typeface="Calibri"/>
              <a:buNone/>
            </a:pPr>
            <a:r>
              <a:rPr b="0" i="0" lang="en-US" sz="16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web events recorded across the experiment window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526280" y="1737360"/>
            <a:ext cx="3017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3800"/>
              <a:buFont typeface="Cambria"/>
              <a:buNone/>
            </a:pPr>
            <a:r>
              <a:rPr b="0" i="0" lang="en-US" sz="4000" u="none" cap="none" strike="noStrike">
                <a:solidFill>
                  <a:srgbClr val="96151D"/>
                </a:solidFill>
                <a:latin typeface="Cambria"/>
                <a:ea typeface="Cambria"/>
                <a:cs typeface="Cambria"/>
                <a:sym typeface="Cambria"/>
              </a:rPr>
              <a:t>30%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526280" y="2487168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250"/>
              <a:buFont typeface="Calibri"/>
              <a:buNone/>
            </a:pPr>
            <a:r>
              <a:rPr b="0" i="0" lang="en-US" sz="16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of visits contain more than one start event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229600" y="1737360"/>
            <a:ext cx="3017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3800"/>
              <a:buFont typeface="Cambria"/>
              <a:buNone/>
            </a:pPr>
            <a:r>
              <a:rPr b="0" i="0" lang="en-US" sz="4000" u="none" cap="none" strike="noStrike">
                <a:solidFill>
                  <a:srgbClr val="96151D"/>
                </a:solidFill>
                <a:latin typeface="Cambria"/>
                <a:ea typeface="Cambria"/>
                <a:cs typeface="Cambria"/>
                <a:sym typeface="Cambria"/>
              </a:rPr>
              <a:t>28.8%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229600" y="2487168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250"/>
              <a:buFont typeface="Calibri"/>
              <a:buNone/>
            </a:pPr>
            <a:r>
              <a:rPr b="0" i="0" lang="en-US" sz="16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of visits are a clean, linear run through the funnel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822960" y="342900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1300"/>
              <a:buFont typeface="Calibri"/>
              <a:buNone/>
            </a:pPr>
            <a:r>
              <a:rPr b="1" i="0" lang="en-US" sz="1900" u="none" cap="none" strike="noStrike">
                <a:solidFill>
                  <a:srgbClr val="1A1416"/>
                </a:solidFill>
                <a:latin typeface="Calibri"/>
                <a:ea typeface="Calibri"/>
                <a:cs typeface="Calibri"/>
                <a:sym typeface="Calibri"/>
              </a:rPr>
              <a:t>What we found and settled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22960" y="3794760"/>
            <a:ext cx="10424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10,764 duplicate events removed — the same step, client and second twice over.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A4145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20,109 clients were never randomised, and 49,548 appear with no profile. Both excluded.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A4145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No session exceeds 24 hours, so no duration trimming was needed — checked, not assumed.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A4145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Thirteen cleaning decisions, each documented next to the evidence that motivated it.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22960" y="605332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B7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Analysis dataset: 317,135 events, 50,488 clients.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 txBox="1"/>
          <p:nvPr>
            <p:ph idx="4294967295" type="sldNum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57B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/>
          <p:nvPr/>
        </p:nvSpPr>
        <p:spPr>
          <a:xfrm>
            <a:off x="822960" y="475488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6151D"/>
                </a:solidFill>
                <a:latin typeface="Calibri"/>
                <a:ea typeface="Calibri"/>
                <a:cs typeface="Calibri"/>
                <a:sym typeface="Calibri"/>
              </a:rPr>
              <a:t>QUESTION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822960" y="768096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3200"/>
              <a:buFont typeface="Cambria"/>
              <a:buNone/>
            </a:pPr>
            <a:r>
              <a:rPr b="0" i="0" lang="en-US" sz="3200" u="none" cap="none" strike="noStrike">
                <a:solidFill>
                  <a:srgbClr val="1A1416"/>
                </a:solidFill>
                <a:latin typeface="Cambria"/>
                <a:ea typeface="Cambria"/>
                <a:cs typeface="Cambria"/>
                <a:sym typeface="Cambria"/>
              </a:rPr>
              <a:t>The groups are comparable — and we can prove it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822960" y="1737360"/>
            <a:ext cx="4846320" cy="1783080"/>
          </a:xfrm>
          <a:prstGeom prst="rect">
            <a:avLst/>
          </a:prstGeom>
          <a:solidFill>
            <a:srgbClr val="F5EFEF"/>
          </a:solidFill>
          <a:ln cap="flat" cmpd="sng" w="12700">
            <a:solidFill>
              <a:srgbClr val="F5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1143000" y="19202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Every effect size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143000" y="2212848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3000"/>
              <a:buFont typeface="Cambria"/>
              <a:buNone/>
            </a:pPr>
            <a:r>
              <a:rPr b="0" i="0" lang="en-US" sz="3000" u="none" cap="none" strike="noStrike">
                <a:solidFill>
                  <a:srgbClr val="96151D"/>
                </a:solidFill>
                <a:latin typeface="Cambria"/>
                <a:ea typeface="Cambria"/>
                <a:cs typeface="Cambria"/>
                <a:sym typeface="Cambria"/>
              </a:rPr>
              <a:t>below 0.02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143000" y="278892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Four of seven client characteristics are statistically significant. None is large enough to matter.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080760" y="1737360"/>
            <a:ext cx="484632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4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6400800" y="19202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calls_6_mnth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400800" y="2212848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84E"/>
              </a:buClr>
              <a:buSzPts val="3000"/>
              <a:buFont typeface="Cambria"/>
              <a:buNone/>
            </a:pPr>
            <a:r>
              <a:rPr b="0" i="0" lang="en-US" sz="3000" u="none" cap="none" strike="noStrike">
                <a:solidFill>
                  <a:srgbClr val="21384E"/>
                </a:solidFill>
                <a:latin typeface="Cambria"/>
                <a:ea typeface="Cambria"/>
                <a:cs typeface="Cambria"/>
                <a:sym typeface="Cambria"/>
              </a:rPr>
              <a:t>p = 0.0005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400800" y="278892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Looks like a finding until the effect size — 0.018 — says the groups are interchangeable.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22960" y="3886200"/>
            <a:ext cx="10149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1800"/>
              <a:buFont typeface="Cambria"/>
              <a:buNone/>
            </a:pPr>
            <a:r>
              <a:rPr b="0" i="1" lang="en-US" sz="2100" u="none" cap="none" strike="noStrike">
                <a:solidFill>
                  <a:srgbClr val="96151D"/>
                </a:solidFill>
                <a:latin typeface="Cambria"/>
                <a:ea typeface="Cambria"/>
                <a:cs typeface="Cambria"/>
                <a:sym typeface="Cambria"/>
              </a:rPr>
              <a:t>With 25,000 clients per group, almost anything reaches significance. That is why every p-value in this analysis is reported next to an effect size.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822960" y="4892040"/>
            <a:ext cx="10149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350"/>
              <a:buFont typeface="Calibri"/>
              <a:buNone/>
            </a:pPr>
            <a:r>
              <a:rPr b="0" i="0" lang="en-US" sz="165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The assignment itself is uneven — 53.4% Test against 46.6% Control — but it is unrelated to every client characteristic we can measure. We report it rather than correcting it.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 txBox="1"/>
          <p:nvPr>
            <p:ph idx="4294967295" type="sldNum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57B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24" y="15"/>
            <a:ext cx="12192000" cy="6858000"/>
          </a:xfrm>
          <a:prstGeom prst="rect">
            <a:avLst/>
          </a:prstGeom>
          <a:solidFill>
            <a:srgbClr val="F5EFEF"/>
          </a:solidFill>
          <a:ln cap="flat" cmpd="sng" w="12700">
            <a:solidFill>
              <a:srgbClr val="F5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" name="Google Shape;103;p6"/>
          <p:cNvSpPr/>
          <p:nvPr/>
        </p:nvSpPr>
        <p:spPr>
          <a:xfrm>
            <a:off x="822960" y="475488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6151D"/>
                </a:solidFill>
                <a:latin typeface="Calibri"/>
                <a:ea typeface="Calibri"/>
                <a:cs typeface="Calibri"/>
                <a:sym typeface="Calibri"/>
              </a:rPr>
              <a:t>QUESTION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822960" y="768096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3200"/>
              <a:buFont typeface="Cambria"/>
              <a:buNone/>
            </a:pPr>
            <a:r>
              <a:rPr b="0" i="0" lang="en-US" sz="3200" u="none" cap="none" strike="noStrike">
                <a:solidFill>
                  <a:srgbClr val="1A1416"/>
                </a:solidFill>
                <a:latin typeface="Cambria"/>
                <a:ea typeface="Cambria"/>
                <a:cs typeface="Cambria"/>
                <a:sym typeface="Cambria"/>
              </a:rPr>
              <a:t>One choice moved the answer by thirteen points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1143000" y="187452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B7E"/>
              </a:buClr>
              <a:buSzPts val="3200"/>
              <a:buFont typeface="Cambria"/>
              <a:buNone/>
            </a:pPr>
            <a:r>
              <a:rPr b="0" i="0" lang="en-US" sz="3200" u="none" cap="none" strike="noStrike">
                <a:solidFill>
                  <a:srgbClr val="857B7E"/>
                </a:solidFill>
                <a:latin typeface="Cambria"/>
                <a:ea typeface="Cambria"/>
                <a:cs typeface="Cambria"/>
                <a:sym typeface="Cambria"/>
              </a:rPr>
              <a:t>54.4%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143000" y="24688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completion measured per visit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263640" y="187452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3200"/>
              <a:buFont typeface="Cambria"/>
              <a:buNone/>
            </a:pPr>
            <a:r>
              <a:rPr b="0" i="0" lang="en-US" sz="3200" u="none" cap="none" strike="noStrike">
                <a:solidFill>
                  <a:srgbClr val="96151D"/>
                </a:solidFill>
                <a:latin typeface="Cambria"/>
                <a:ea typeface="Cambria"/>
                <a:cs typeface="Cambria"/>
                <a:sym typeface="Cambria"/>
              </a:rPr>
              <a:t>67.4%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6263640" y="24688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completion measured per client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822960" y="2916930"/>
            <a:ext cx="9692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500"/>
              <a:buFont typeface="Calibri"/>
              <a:buNone/>
            </a:pPr>
            <a:r>
              <a:rPr b="0" i="0" lang="en-US" sz="18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Same data. We measure per client, because that is the unit the experiment randomised — measuring per visit would weight returning clients more heavily and undo the balance randomisation guarantees.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868672" y="4279385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1300"/>
              <a:buFont typeface="Calibri"/>
              <a:buNone/>
            </a:pPr>
            <a:r>
              <a:rPr b="1" i="0" lang="en-US" sz="2000" u="none" cap="none" strike="noStrike">
                <a:solidFill>
                  <a:srgbClr val="1A1416"/>
                </a:solidFill>
                <a:latin typeface="Calibri"/>
                <a:ea typeface="Calibri"/>
                <a:cs typeface="Calibri"/>
                <a:sym typeface="Calibri"/>
              </a:rPr>
              <a:t>Six rules, fixed before any KPI was computed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68672" y="4645145"/>
            <a:ext cx="104241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873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A visit is one journey · the first start opens it · the first confirm closes it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A4145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Zero-duration visits count in rates, not in times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A4145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Backward movement is measured, not assumed to be an error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 txBox="1"/>
          <p:nvPr>
            <p:ph idx="4294967295" type="sldNum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57B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151D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87ee99666_3_5"/>
          <p:cNvSpPr txBox="1"/>
          <p:nvPr/>
        </p:nvSpPr>
        <p:spPr>
          <a:xfrm>
            <a:off x="95475" y="145700"/>
            <a:ext cx="5041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TABLEAU DASHBOARDS</a:t>
            </a:r>
            <a:endParaRPr b="1" sz="23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19" name="Google Shape;119;g3f87ee99666_3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175" y="826575"/>
            <a:ext cx="11691639" cy="5758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151D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3f87ee99666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9" cy="6256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3f87ee99666_3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875" y="1226700"/>
            <a:ext cx="10818176" cy="5366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f87ee99666_3_13"/>
          <p:cNvSpPr txBox="1"/>
          <p:nvPr/>
        </p:nvSpPr>
        <p:spPr>
          <a:xfrm>
            <a:off x="1146875" y="480450"/>
            <a:ext cx="6648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Calibri"/>
                <a:ea typeface="Calibri"/>
                <a:cs typeface="Calibri"/>
                <a:sym typeface="Calibri"/>
              </a:rPr>
              <a:t>We got the same results in Python</a:t>
            </a:r>
            <a:endParaRPr b="1"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822960" y="475488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6151D"/>
                </a:solidFill>
                <a:latin typeface="Calibri"/>
                <a:ea typeface="Calibri"/>
                <a:cs typeface="Calibri"/>
                <a:sym typeface="Calibri"/>
              </a:rPr>
              <a:t>QUESTION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822960" y="768096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A1416"/>
                </a:solidFill>
                <a:latin typeface="Cambria"/>
                <a:ea typeface="Cambria"/>
                <a:cs typeface="Cambria"/>
                <a:sym typeface="Cambria"/>
              </a:rPr>
              <a:t>So … </a:t>
            </a:r>
            <a:r>
              <a:rPr b="1" i="0" lang="en-US" sz="3200" u="none" cap="none" strike="noStrike">
                <a:solidFill>
                  <a:srgbClr val="1A1416"/>
                </a:solidFill>
                <a:latin typeface="Cambria"/>
                <a:ea typeface="Cambria"/>
                <a:cs typeface="Cambria"/>
                <a:sym typeface="Cambria"/>
              </a:rPr>
              <a:t>More clients finish, and they finish faster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822960" y="1691640"/>
            <a:ext cx="31089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A61C00"/>
                </a:solidFill>
                <a:latin typeface="Cambria"/>
                <a:ea typeface="Cambria"/>
                <a:cs typeface="Cambria"/>
                <a:sym typeface="Cambria"/>
              </a:rPr>
              <a:t>+3.4 pp</a:t>
            </a:r>
            <a:endParaRPr b="1" i="0" sz="38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822960" y="2441448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250"/>
              <a:buFont typeface="Calibri"/>
              <a:buNone/>
            </a:pPr>
            <a:r>
              <a:rPr b="0" i="0" lang="en-US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more clients complete the process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250"/>
              <a:buFont typeface="Calibri"/>
              <a:buNone/>
            </a:pPr>
            <a:r>
              <a:rPr b="0" i="0" lang="en-US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63.5% → 66.9%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389120" y="1691640"/>
            <a:ext cx="31089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96151D"/>
                </a:solidFill>
                <a:latin typeface="Cambria"/>
                <a:ea typeface="Cambria"/>
                <a:cs typeface="Cambria"/>
                <a:sym typeface="Cambria"/>
              </a:rPr>
              <a:t>−34 s</a:t>
            </a:r>
            <a:endParaRPr b="1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389120" y="2441448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250"/>
              <a:buFont typeface="Calibri"/>
              <a:buNone/>
            </a:pPr>
            <a:r>
              <a:rPr b="0" i="0" lang="en-US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faster to complete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250"/>
              <a:buFont typeface="Calibri"/>
              <a:buNone/>
            </a:pPr>
            <a:r>
              <a:rPr b="0" i="0" lang="en-US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272s → 238s, a 12.5% cut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955280" y="1691640"/>
            <a:ext cx="31089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96151D"/>
                </a:solidFill>
                <a:latin typeface="Cambria"/>
                <a:ea typeface="Cambria"/>
                <a:cs typeface="Cambria"/>
                <a:sym typeface="Cambria"/>
              </a:rPr>
              <a:t>−38 s</a:t>
            </a:r>
            <a:endParaRPr b="1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955280" y="2441448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250"/>
              <a:buFont typeface="Calibri"/>
              <a:buNone/>
            </a:pPr>
            <a:r>
              <a:rPr b="0" i="0" lang="en-US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less active working time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250"/>
              <a:buFont typeface="Calibri"/>
              <a:buNone/>
            </a:pPr>
            <a:r>
              <a:rPr b="0" i="0" lang="en-US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239s → 201s, a 15.9% cut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822960" y="3611880"/>
            <a:ext cx="10515600" cy="1097280"/>
          </a:xfrm>
          <a:prstGeom prst="rect">
            <a:avLst/>
          </a:prstGeom>
          <a:solidFill>
            <a:srgbClr val="F5EFEF"/>
          </a:solidFill>
          <a:ln cap="flat" cmpd="sng" w="12700">
            <a:solidFill>
              <a:srgbClr val="F5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1188720" y="3840480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450"/>
              <a:buFont typeface="Calibri"/>
              <a:buNone/>
            </a:pPr>
            <a:r>
              <a:rPr b="1" i="0" lang="en-US" sz="175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The completion gain is certain, so  the 95% confidence interval runs from +2.6 to +4.2 points and never approaches zero. The speed improvement is the largest effect anywhere in the analysis.</a:t>
            </a:r>
            <a:endParaRPr b="1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22960" y="4983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2300"/>
              <a:buFont typeface="Cambria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822960" y="5532128"/>
            <a:ext cx="914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B7E"/>
              </a:buClr>
              <a:buSzPts val="950"/>
              <a:buFont typeface="Calibri"/>
              <a:buNone/>
            </a:pPr>
            <a:r>
              <a:rPr b="0" i="0" lang="en-US" sz="1300" u="none" cap="none" strike="noStrike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Two-proportion z-test and Mann-Whitney, 49,858 clients. See 4.0-aroa-ab-testing. Result</a:t>
            </a:r>
            <a:r>
              <a:rPr lang="en-US" sz="1300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s reproduced in Tableau 2.1-angelica.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/>
          <p:nvPr>
            <p:ph idx="4294967295" type="sldNum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57B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>
            <a:off x="822960" y="475488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6151D"/>
                </a:solidFill>
                <a:latin typeface="Calibri"/>
                <a:ea typeface="Calibri"/>
                <a:cs typeface="Calibri"/>
                <a:sym typeface="Calibri"/>
              </a:rPr>
              <a:t>QUESTION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822960" y="768096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3200"/>
              <a:buFont typeface="Cambria"/>
              <a:buNone/>
            </a:pPr>
            <a:r>
              <a:rPr b="0" i="0" lang="en-US" sz="3200" u="none" cap="none" strike="noStrike">
                <a:solidFill>
                  <a:srgbClr val="1A1416"/>
                </a:solidFill>
                <a:latin typeface="Cambria"/>
                <a:ea typeface="Cambria"/>
                <a:cs typeface="Cambria"/>
                <a:sym typeface="Cambria"/>
              </a:rPr>
              <a:t>Every extra client is won at the first step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8595295" y="1748805"/>
            <a:ext cx="329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1A1416"/>
                </a:solidFill>
                <a:latin typeface="Cambria"/>
                <a:ea typeface="Cambria"/>
                <a:cs typeface="Cambria"/>
                <a:sym typeface="Cambria"/>
              </a:rPr>
              <a:t>Where to invest next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8595299" y="2403875"/>
            <a:ext cx="2685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300"/>
              <a:buFont typeface="Calibri"/>
              <a:buNone/>
            </a:pPr>
            <a:r>
              <a:rPr b="0" i="0" lang="en-US" sz="18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90.4% of Test clients get past the opening step</a:t>
            </a:r>
            <a:r>
              <a:rPr lang="en-US" sz="1800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 vs </a:t>
            </a:r>
            <a:r>
              <a:rPr b="0" i="0" lang="en-US" sz="18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85.5% of Control</a:t>
            </a:r>
            <a:r>
              <a:rPr lang="en-US" sz="1800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So the redesign did not make the process easier throughout. It removed one obstacle at the front door</a:t>
            </a:r>
            <a:r>
              <a:rPr b="1" lang="en-US" sz="1800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 txBox="1"/>
          <p:nvPr>
            <p:ph idx="4294967295" type="sldNum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57B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425" y="1750850"/>
            <a:ext cx="7878301" cy="384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822960" y="475488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6151D"/>
                </a:solidFill>
                <a:latin typeface="Calibri"/>
                <a:ea typeface="Calibri"/>
                <a:cs typeface="Calibri"/>
                <a:sym typeface="Calibri"/>
              </a:rPr>
              <a:t>QUESTION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822960" y="768096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3200"/>
              <a:buFont typeface="Cambria"/>
              <a:buNone/>
            </a:pPr>
            <a:r>
              <a:rPr b="0" i="0" lang="en-US" sz="3200" u="none" cap="none" strike="noStrike">
                <a:solidFill>
                  <a:srgbClr val="1A1416"/>
                </a:solidFill>
                <a:latin typeface="Cambria"/>
                <a:ea typeface="Cambria"/>
                <a:cs typeface="Cambria"/>
                <a:sym typeface="Cambria"/>
              </a:rPr>
              <a:t>Clients navigate more — and that is a good sign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7997451" y="2163938"/>
            <a:ext cx="3341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2100"/>
              <a:buFont typeface="Cambria"/>
              <a:buNone/>
            </a:pPr>
            <a:r>
              <a:rPr b="1" i="0" lang="en-US" sz="2400" u="none" cap="none" strike="noStrike">
                <a:solidFill>
                  <a:srgbClr val="96151D"/>
                </a:solidFill>
                <a:latin typeface="Cambria"/>
                <a:ea typeface="Cambria"/>
                <a:cs typeface="Cambria"/>
                <a:sym typeface="Cambria"/>
              </a:rPr>
              <a:t>But it cannot be confusion.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7997451" y="2643433"/>
            <a:ext cx="33411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350"/>
              <a:buFont typeface="Calibri"/>
              <a:buNone/>
            </a:pPr>
            <a:r>
              <a:rPr b="1" i="0" lang="en-US" sz="185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Confused clients are slower and less likely to finish. These clients are faster and more likely to finish.</a:t>
            </a:r>
            <a:endParaRPr b="1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822950" y="5285176"/>
            <a:ext cx="105156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857B7E"/>
              </a:buClr>
              <a:buSzPts val="1300"/>
              <a:buFont typeface="Calibri"/>
              <a:buNone/>
            </a:pPr>
            <a:r>
              <a:rPr b="1" i="1" lang="en-US" sz="2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We defined this metric before seeing the result. </a:t>
            </a:r>
            <a:r>
              <a:rPr b="1" i="1" lang="en-US" sz="2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If we had flagged backward movements as an </a:t>
            </a:r>
            <a:r>
              <a:rPr b="1" i="1" lang="en-US" sz="2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error in advance, the redesign would have been penalised for being easy to navigate.</a:t>
            </a:r>
            <a:endParaRPr b="1" i="0" sz="22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>
            <p:ph idx="4294967295" type="sldNum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57B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50" y="1494125"/>
            <a:ext cx="6518923" cy="352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822960" y="475488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6151D"/>
                </a:solidFill>
                <a:latin typeface="Calibri"/>
                <a:ea typeface="Calibri"/>
                <a:cs typeface="Calibri"/>
                <a:sym typeface="Calibri"/>
              </a:rPr>
              <a:t>QUESTION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822960" y="768096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3200"/>
              <a:buFont typeface="Cambria"/>
              <a:buNone/>
            </a:pPr>
            <a:r>
              <a:rPr b="0" i="0" lang="en-US" sz="3200" u="none" cap="none" strike="noStrike">
                <a:solidFill>
                  <a:srgbClr val="1A1416"/>
                </a:solidFill>
                <a:latin typeface="Cambria"/>
                <a:ea typeface="Cambria"/>
                <a:cs typeface="Cambria"/>
                <a:sym typeface="Cambria"/>
              </a:rPr>
              <a:t>It lifts every age group — and one still lags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8042032" y="1616312"/>
            <a:ext cx="22599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2000"/>
              <a:buFont typeface="Cambria"/>
              <a:buNone/>
            </a:pPr>
            <a:r>
              <a:rPr b="0" i="0" lang="en-US" sz="2300" u="none" cap="none" strike="noStrike">
                <a:solidFill>
                  <a:srgbClr val="1A1416"/>
                </a:solidFill>
                <a:latin typeface="Cambria"/>
                <a:ea typeface="Cambria"/>
                <a:cs typeface="Cambria"/>
                <a:sym typeface="Cambria"/>
              </a:rPr>
              <a:t>A nine-point gap, in both designs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8041975" y="2791219"/>
            <a:ext cx="3474600" cy="23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The redesign helps every age group by a similar amount</a:t>
            </a:r>
            <a:r>
              <a:rPr lang="en-US" sz="1600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>
              <a:solidFill>
                <a:srgbClr val="4A41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300"/>
              <a:buFont typeface="Calibri"/>
              <a:buNone/>
            </a:pPr>
            <a:r>
              <a:rPr b="1" lang="en-US" sz="1600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Less percent of completion!!</a:t>
            </a:r>
            <a:endParaRPr b="1" sz="1600">
              <a:solidFill>
                <a:srgbClr val="4A41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300"/>
              <a:buFont typeface="Calibri"/>
              <a:buNone/>
            </a:pPr>
            <a:r>
              <a:t/>
            </a:r>
            <a:endParaRPr sz="1600">
              <a:solidFill>
                <a:srgbClr val="4A41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But clients aged 65 and over complete at 56%, against 64–66% for everyone else. </a:t>
            </a:r>
            <a:r>
              <a:rPr b="1" i="0" lang="en-US" sz="16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That gap exists before the redesign and survives it.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822960" y="605332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B7E"/>
              </a:buClr>
              <a:buSzPts val="950"/>
              <a:buFont typeface="Calibri"/>
              <a:buNone/>
            </a:pPr>
            <a:r>
              <a:rPr b="0" i="0" lang="en-US" sz="1550" u="none" cap="none" strike="noStrike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Interaction tested by likelihood-ratio on nested logistic models. Per-segment confidence intervals </a:t>
            </a:r>
            <a:r>
              <a:rPr lang="en-US" sz="1550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 txBox="1"/>
          <p:nvPr>
            <p:ph idx="4294967295" type="sldNum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57B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465" y="1578864"/>
            <a:ext cx="7559043" cy="3655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822960" y="475488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151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6151D"/>
                </a:solidFill>
                <a:latin typeface="Calibri"/>
                <a:ea typeface="Calibri"/>
                <a:cs typeface="Calibri"/>
                <a:sym typeface="Calibri"/>
              </a:rPr>
              <a:t>QUESTION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822960" y="768096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3200"/>
              <a:buFont typeface="Cambria"/>
              <a:buNone/>
            </a:pPr>
            <a:r>
              <a:rPr b="0" i="0" lang="en-US" sz="3200" u="none" cap="none" strike="noStrike">
                <a:solidFill>
                  <a:srgbClr val="1A1416"/>
                </a:solidFill>
                <a:latin typeface="Cambria"/>
                <a:ea typeface="Cambria"/>
                <a:cs typeface="Cambria"/>
                <a:sym typeface="Cambria"/>
              </a:rPr>
              <a:t>What we recommend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822950" y="1837526"/>
            <a:ext cx="5120700" cy="1957200"/>
          </a:xfrm>
          <a:prstGeom prst="rect">
            <a:avLst/>
          </a:prstGeom>
          <a:solidFill>
            <a:srgbClr val="96151D"/>
          </a:solidFill>
          <a:ln cap="flat" cmpd="sng" w="12700">
            <a:solidFill>
              <a:srgbClr val="9615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4" name="Google Shape;194;p11"/>
          <p:cNvSpPr/>
          <p:nvPr/>
        </p:nvSpPr>
        <p:spPr>
          <a:xfrm>
            <a:off x="1188770" y="2057360"/>
            <a:ext cx="438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Deploy it</a:t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1262951" y="2427700"/>
            <a:ext cx="3843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F3DEDF"/>
              </a:buClr>
              <a:buSzPts val="1350"/>
              <a:buFont typeface="Calibri"/>
              <a:buNone/>
            </a:pPr>
            <a:r>
              <a:rPr b="0" i="0" lang="en-US" sz="1550" u="none" cap="none" strike="noStrike">
                <a:solidFill>
                  <a:srgbClr val="F3DEDF"/>
                </a:solidFill>
                <a:latin typeface="Calibri"/>
                <a:ea typeface="Calibri"/>
                <a:cs typeface="Calibri"/>
                <a:sym typeface="Calibri"/>
              </a:rPr>
              <a:t>Every outcome that matters moves in its favour, none moves against, and no group is harmed. 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6675120" y="1741947"/>
            <a:ext cx="438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2200"/>
              <a:buFont typeface="Cambria"/>
              <a:buNone/>
            </a:pPr>
            <a:r>
              <a:rPr b="0" i="0" lang="en-US" sz="2400" u="none" cap="none" strike="noStrike">
                <a:solidFill>
                  <a:srgbClr val="1A1416"/>
                </a:solidFill>
                <a:latin typeface="Cambria"/>
                <a:ea typeface="Cambria"/>
                <a:cs typeface="Cambria"/>
                <a:sym typeface="Cambria"/>
              </a:rPr>
              <a:t>Then open a second piece of 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6675125" y="2605963"/>
            <a:ext cx="4389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350"/>
              <a:buFont typeface="Calibri"/>
              <a:buNone/>
            </a:pPr>
            <a:r>
              <a:rPr b="0" i="0" lang="en-US" sz="155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The oldest clients  are nine points less likely to finish online. This redesign does not address that. We suggest a further </a:t>
            </a:r>
            <a:r>
              <a:rPr lang="en-US" sz="1550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analysis to address those clients in particular.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838210" y="4217505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416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1A1416"/>
                </a:solidFill>
                <a:latin typeface="Calibri"/>
                <a:ea typeface="Calibri"/>
                <a:cs typeface="Calibri"/>
                <a:sym typeface="Calibri"/>
              </a:rPr>
              <a:t>What we are not claiming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838200" y="4583278"/>
            <a:ext cx="105156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145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That the redesign works better for any particular age group — the interaction is not significant.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4A4145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That these findings don</a:t>
            </a:r>
            <a:r>
              <a:rPr lang="en-US" sz="1800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’t </a:t>
            </a:r>
            <a:r>
              <a:rPr b="0" i="0" lang="en-US" sz="18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describe every Vanguard client</a:t>
            </a:r>
            <a:r>
              <a:rPr b="0" i="0" lang="en-US" sz="18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 they are 69,657 clients who could not be analysed</a:t>
            </a:r>
            <a:r>
              <a:rPr lang="en-US" sz="1800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8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some are excluded..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4A4145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That a faster completion time proves a better process jo</a:t>
            </a:r>
            <a:r>
              <a:rPr lang="en-US" sz="1800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urney </a:t>
            </a:r>
            <a:r>
              <a:rPr b="0" i="0" lang="en-US" sz="1800" u="none" cap="none" strike="noStrike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on its own — it is read alongside completion, never apart from it.  </a:t>
            </a:r>
            <a:r>
              <a:rPr lang="en-US" sz="1800">
                <a:solidFill>
                  <a:srgbClr val="4A4145"/>
                </a:solidFill>
                <a:latin typeface="Calibri"/>
                <a:ea typeface="Calibri"/>
                <a:cs typeface="Calibri"/>
                <a:sym typeface="Calibri"/>
              </a:rPr>
              <a:t>We only took into account the complete journeys.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 txBox="1"/>
          <p:nvPr>
            <p:ph idx="4294967295" type="sldNum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57B7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57B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151D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/>
          <p:nvPr/>
        </p:nvSpPr>
        <p:spPr>
          <a:xfrm>
            <a:off x="822960" y="22860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redesign is worth shipping.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822960" y="310896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C9CB"/>
              </a:buClr>
              <a:buSzPts val="3000"/>
              <a:buFont typeface="Cambria"/>
              <a:buNone/>
            </a:pPr>
            <a:r>
              <a:rPr b="0" i="1" lang="en-US" sz="3000" u="none" cap="none" strike="noStrike">
                <a:solidFill>
                  <a:srgbClr val="E8C9CB"/>
                </a:solidFill>
                <a:latin typeface="Cambria"/>
                <a:ea typeface="Cambria"/>
                <a:cs typeface="Cambria"/>
                <a:sym typeface="Cambria"/>
              </a:rPr>
              <a:t>The nine points it leaves behind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C9CB"/>
              </a:buClr>
              <a:buSzPts val="3000"/>
              <a:buFont typeface="Cambria"/>
              <a:buNone/>
            </a:pPr>
            <a:r>
              <a:rPr b="0" i="1" lang="en-US" sz="3000" u="none" cap="none" strike="noStrike">
                <a:solidFill>
                  <a:srgbClr val="E8C9CB"/>
                </a:solidFill>
                <a:latin typeface="Cambria"/>
                <a:ea typeface="Cambria"/>
                <a:cs typeface="Cambria"/>
                <a:sym typeface="Cambria"/>
              </a:rPr>
              <a:t>are worth a project of their own.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822960" y="58521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A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9A9E"/>
                </a:solidFill>
                <a:latin typeface="Calibri"/>
                <a:ea typeface="Calibri"/>
                <a:cs typeface="Calibri"/>
                <a:sym typeface="Calibri"/>
              </a:rPr>
              <a:t>Vanguard  ·  Customer Experience Analytics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 txBox="1"/>
          <p:nvPr>
            <p:ph idx="4294967295" type="sldNum"/>
          </p:nvPr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B9828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B982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2026-08-26T21:24:35Z</dcterms:created>
  <dc:creator>Vanguard CX Analytics</dc:creator>
</cp:coreProperties>
</file>